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6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50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48EC90-BB58-4B98-AAB6-6865120F2ED6}" type="datetimeFigureOut">
              <a:rPr lang="it-IT" smtClean="0"/>
              <a:t>08/06/2026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A77AB4-215A-45BB-8CEE-916E6DFE107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19568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16E2-43C4-46AF-B036-BC7B751D8515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A6D57-853A-47DA-98C6-E50468443C2B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B51DB4-682D-4838-9CAB-F46097085574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4B39E-AF68-46B2-8C1A-45CA30F35A1C}" type="datetime1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17583-1C38-45FF-B195-7CD7FB48B0EE}" type="datetime1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EFEBF-CF88-4CAE-8F05-DA4B85E57F2E}" type="datetime1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E1093-6204-4652-AC4D-E5B7B655472E}" type="datetime1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C2239-7093-4D5A-8035-4240E65FF0BC}" type="datetime1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B512E-935D-4DB0-9971-BD72CC75BAEB}" type="datetime1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B41CF-0AE6-4229-BD7D-50CCDA9A5DC1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40D92-BB4D-4873-806B-6D8BF6886184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D12670-CD27-462B-BE92-CEC6474A9098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 err="1"/>
              <a:t>Lightweight</a:t>
            </a:r>
            <a:r>
              <a:rPr lang="it-IT" dirty="0"/>
              <a:t> </a:t>
            </a:r>
            <a:r>
              <a:rPr lang="it-IT" dirty="0" err="1"/>
              <a:t>Diffusion</a:t>
            </a:r>
            <a:r>
              <a:rPr lang="it-IT" dirty="0"/>
              <a:t> Models: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3600" dirty="0"/>
              <a:t>Accelerating Training and Inference for Resource-Constrained Environments</a:t>
            </a:r>
          </a:p>
          <a:p>
            <a:pPr marL="0" indent="0">
              <a:buNone/>
            </a:pPr>
            <a:endParaRPr dirty="0"/>
          </a:p>
          <a:p>
            <a:r>
              <a:rPr sz="2400" dirty="0"/>
              <a:t>Course: </a:t>
            </a:r>
            <a:r>
              <a:rPr lang="it-IT" sz="2400" dirty="0"/>
              <a:t>Computer Vision</a:t>
            </a:r>
          </a:p>
          <a:p>
            <a:r>
              <a:rPr lang="it-IT" sz="2400" dirty="0"/>
              <a:t>Autor: Yuriy Fedoryuk</a:t>
            </a:r>
          </a:p>
          <a:p>
            <a:endParaRPr lang="it-IT" sz="2400" dirty="0"/>
          </a:p>
          <a:p>
            <a:r>
              <a:rPr lang="it-IT" sz="2400" b="1" dirty="0"/>
              <a:t>Key Technologies</a:t>
            </a:r>
            <a:endParaRPr lang="it-IT" sz="2400" dirty="0"/>
          </a:p>
          <a:p>
            <a:pPr lvl="1"/>
            <a:r>
              <a:rPr lang="it-IT" sz="2000" dirty="0"/>
              <a:t>DDPM</a:t>
            </a:r>
          </a:p>
          <a:p>
            <a:pPr lvl="1"/>
            <a:r>
              <a:rPr lang="it-IT" sz="2000" dirty="0"/>
              <a:t>DDIM</a:t>
            </a:r>
          </a:p>
          <a:p>
            <a:pPr lvl="1"/>
            <a:r>
              <a:rPr lang="it-IT" sz="2000" dirty="0" err="1"/>
              <a:t>PyTorch</a:t>
            </a:r>
            <a:endParaRPr lang="it-IT" sz="2000" dirty="0"/>
          </a:p>
          <a:p>
            <a:pPr lvl="1"/>
            <a:r>
              <a:rPr lang="it-IT" sz="2000" dirty="0"/>
              <a:t>CIFAR-10</a:t>
            </a:r>
          </a:p>
          <a:p>
            <a:endParaRPr sz="2400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4DF6406-0D5C-9590-64E4-A942D62A9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dirty="0"/>
              <a:t>Problem Statement</a:t>
            </a:r>
          </a:p>
          <a:p>
            <a:r>
              <a:rPr dirty="0"/>
              <a:t>State of the Art</a:t>
            </a:r>
          </a:p>
          <a:p>
            <a:r>
              <a:rPr dirty="0"/>
              <a:t>Proposed Method</a:t>
            </a:r>
          </a:p>
          <a:p>
            <a:r>
              <a:rPr dirty="0"/>
              <a:t>Dataset</a:t>
            </a:r>
          </a:p>
          <a:p>
            <a:r>
              <a:rPr dirty="0"/>
              <a:t>Model Architecture</a:t>
            </a:r>
          </a:p>
          <a:p>
            <a:r>
              <a:rPr dirty="0"/>
              <a:t>Experimental Setup</a:t>
            </a:r>
          </a:p>
          <a:p>
            <a:r>
              <a:rPr dirty="0"/>
              <a:t>DDIM Acceleration Strategy</a:t>
            </a:r>
          </a:p>
          <a:p>
            <a:r>
              <a:rPr dirty="0"/>
              <a:t>Model Evaluation</a:t>
            </a:r>
          </a:p>
          <a:p>
            <a:r>
              <a:rPr dirty="0"/>
              <a:t>Results and Ablation Study</a:t>
            </a:r>
          </a:p>
          <a:p>
            <a:r>
              <a:rPr dirty="0"/>
              <a:t>Conclusions</a:t>
            </a:r>
            <a:r>
              <a:rPr lang="it-IT" dirty="0"/>
              <a:t> &amp; Future Works</a:t>
            </a:r>
            <a:endParaRPr dirty="0"/>
          </a:p>
          <a:p>
            <a:r>
              <a:rPr dirty="0"/>
              <a:t>References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6A194B63-9E14-DEA3-40F4-69EA0777B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DDPMs generate high-quality images but require ~1000 denoising steps, making inference slow.</a:t>
            </a:r>
          </a:p>
          <a:p>
            <a:endParaRPr dirty="0"/>
          </a:p>
          <a:p>
            <a:r>
              <a:rPr dirty="0"/>
              <a:t>Goals:</a:t>
            </a:r>
          </a:p>
          <a:p>
            <a:pPr lvl="1"/>
            <a:r>
              <a:rPr dirty="0"/>
              <a:t>Implement DDPM baseline</a:t>
            </a:r>
          </a:p>
          <a:p>
            <a:pPr lvl="1"/>
            <a:r>
              <a:rPr dirty="0"/>
              <a:t>Integrate DDIM</a:t>
            </a:r>
          </a:p>
          <a:p>
            <a:pPr lvl="1"/>
            <a:r>
              <a:rPr dirty="0"/>
              <a:t>Measure speed-quality trade-off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F752E6B-0385-FBA6-746F-9BD036324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/>
              <a:t>Denoising</a:t>
            </a:r>
            <a:r>
              <a:rPr lang="it-IT" dirty="0"/>
              <a:t> </a:t>
            </a:r>
            <a:r>
              <a:rPr lang="it-IT" dirty="0" err="1"/>
              <a:t>Diffusion</a:t>
            </a:r>
            <a:r>
              <a:rPr lang="it-IT" dirty="0"/>
              <a:t> </a:t>
            </a:r>
            <a:r>
              <a:rPr lang="it-IT" dirty="0" err="1"/>
              <a:t>Probabilistic</a:t>
            </a:r>
            <a:r>
              <a:rPr lang="it-IT" dirty="0"/>
              <a:t> Models (</a:t>
            </a:r>
            <a:r>
              <a:rPr dirty="0"/>
              <a:t>DDPM Ho et al., 2020)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on:</a:t>
            </a:r>
            <a:endParaRPr dirty="0"/>
          </a:p>
          <a:p>
            <a:pPr lvl="1"/>
            <a:r>
              <a:rPr dirty="0"/>
              <a:t>Forward diffusion</a:t>
            </a:r>
            <a:r>
              <a:rPr lang="it-IT" dirty="0"/>
              <a:t> </a:t>
            </a:r>
            <a:r>
              <a:rPr lang="it-IT" dirty="0" err="1"/>
              <a:t>gradually</a:t>
            </a:r>
            <a:r>
              <a:rPr dirty="0"/>
              <a:t> adds noise</a:t>
            </a:r>
            <a:endParaRPr lang="it-IT" dirty="0"/>
          </a:p>
          <a:p>
            <a:pPr marL="457200" lvl="1" indent="0">
              <a:buNone/>
            </a:pPr>
            <a:r>
              <a:rPr lang="it-IT" dirty="0"/>
              <a:t>	x₀ → x₁ → x₂ → ... → xₜ</a:t>
            </a:r>
            <a:endParaRPr dirty="0"/>
          </a:p>
          <a:p>
            <a:pPr lvl="1"/>
            <a:r>
              <a:rPr dirty="0"/>
              <a:t>Reverse process</a:t>
            </a:r>
            <a:r>
              <a:rPr lang="it-IT" dirty="0"/>
              <a:t> </a:t>
            </a:r>
            <a:r>
              <a:rPr lang="it-IT" dirty="0" err="1"/>
              <a:t>learns</a:t>
            </a:r>
            <a:r>
              <a:rPr lang="it-IT" dirty="0"/>
              <a:t> to</a:t>
            </a:r>
            <a:r>
              <a:rPr dirty="0"/>
              <a:t> remove noise</a:t>
            </a:r>
          </a:p>
          <a:p>
            <a:pPr lvl="1"/>
            <a:r>
              <a:rPr dirty="0"/>
              <a:t>Excellent quality but slow sampling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34DA701-FB62-C443-7723-73880508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Baseline DDPM + DDIM accelerated sampling</a:t>
            </a:r>
          </a:p>
          <a:p>
            <a:endParaRPr dirty="0"/>
          </a:p>
          <a:p>
            <a:r>
              <a:rPr dirty="0"/>
              <a:t>Benefits:</a:t>
            </a:r>
          </a:p>
          <a:p>
            <a:pPr lvl="1"/>
            <a:r>
              <a:rPr dirty="0"/>
              <a:t>No retraining required</a:t>
            </a:r>
          </a:p>
          <a:p>
            <a:pPr lvl="1"/>
            <a:r>
              <a:rPr dirty="0"/>
              <a:t>Deterministic sampling</a:t>
            </a:r>
          </a:p>
          <a:p>
            <a:pPr lvl="1"/>
            <a:r>
              <a:rPr dirty="0"/>
              <a:t>10×–100× faster generation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7C40AFB-DE73-7B44-81C8-5C28B70CC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CIFAR-10</a:t>
            </a:r>
          </a:p>
          <a:p>
            <a:pPr lvl="1"/>
            <a:r>
              <a:rPr dirty="0"/>
              <a:t>60,000 RGB images</a:t>
            </a:r>
          </a:p>
          <a:p>
            <a:pPr lvl="1"/>
            <a:r>
              <a:rPr dirty="0"/>
              <a:t>32×32 resolution</a:t>
            </a:r>
          </a:p>
          <a:p>
            <a:pPr lvl="1"/>
            <a:r>
              <a:rPr dirty="0"/>
              <a:t>10 classes</a:t>
            </a:r>
          </a:p>
          <a:p>
            <a:pPr lvl="1"/>
            <a:r>
              <a:rPr dirty="0"/>
              <a:t>50k train / 10k test</a:t>
            </a:r>
            <a:endParaRPr lang="it-IT" dirty="0"/>
          </a:p>
          <a:p>
            <a:pPr lvl="1"/>
            <a:endParaRPr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B58C025-662A-F28E-E1BA-16B22B573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49613"/>
            <a:ext cx="9144000" cy="1108187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9B2E5234-2FD8-01C7-B05C-E9702D8022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200538"/>
            <a:ext cx="9143992" cy="1108187"/>
          </a:xfrm>
          <a:prstGeom prst="rect">
            <a:avLst/>
          </a:prstGeom>
        </p:spPr>
      </p:pic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5CF93F6-3002-1076-7B40-40AD5A5DA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6CAD6F05-D1D1-75F2-BD3E-EA29BC4AE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9086" y="1417638"/>
            <a:ext cx="4234914" cy="29330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Lightweight U-Net</a:t>
            </a:r>
          </a:p>
          <a:p>
            <a:pPr lvl="1"/>
            <a:r>
              <a:rPr dirty="0"/>
              <a:t>Encoder–Decoder</a:t>
            </a:r>
          </a:p>
          <a:p>
            <a:pPr lvl="1"/>
            <a:r>
              <a:rPr dirty="0"/>
              <a:t>Residual Blocks</a:t>
            </a:r>
          </a:p>
          <a:p>
            <a:pPr lvl="1"/>
            <a:r>
              <a:rPr dirty="0"/>
              <a:t>Self-Attention Bottleneck</a:t>
            </a:r>
          </a:p>
          <a:p>
            <a:pPr lvl="1"/>
            <a:r>
              <a:rPr dirty="0"/>
              <a:t>Sinusoidal Time Embeddings</a:t>
            </a:r>
          </a:p>
          <a:p>
            <a:pPr lvl="1"/>
            <a:r>
              <a:rPr dirty="0"/>
              <a:t>Skip Connections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DDD1148-5C33-7D06-A1C1-D06A40396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870387"/>
            <a:ext cx="8229600" cy="1485963"/>
          </a:xfrm>
        </p:spPr>
        <p:txBody>
          <a:bodyPr>
            <a:normAutofit fontScale="77500" lnSpcReduction="20000"/>
          </a:bodyPr>
          <a:lstStyle/>
          <a:p>
            <a:r>
              <a:rPr lang="it-IT" dirty="0" err="1"/>
              <a:t>Stability</a:t>
            </a:r>
            <a:r>
              <a:rPr lang="it-IT" dirty="0"/>
              <a:t> Techniques</a:t>
            </a:r>
          </a:p>
          <a:p>
            <a:pPr lvl="1"/>
            <a:r>
              <a:rPr dirty="0"/>
              <a:t>AMP + EMA + Gradient Clipping</a:t>
            </a:r>
            <a:endParaRPr lang="it-IT" dirty="0"/>
          </a:p>
          <a:p>
            <a:r>
              <a:rPr lang="it-IT" dirty="0"/>
              <a:t>Hardware</a:t>
            </a:r>
          </a:p>
          <a:p>
            <a:pPr lvl="1"/>
            <a:r>
              <a:rPr lang="it-IT" dirty="0"/>
              <a:t>GPU-</a:t>
            </a:r>
            <a:r>
              <a:rPr lang="it-IT" dirty="0" err="1"/>
              <a:t>based</a:t>
            </a:r>
            <a:r>
              <a:rPr lang="it-IT" dirty="0"/>
              <a:t> </a:t>
            </a:r>
            <a:r>
              <a:rPr lang="it-IT" dirty="0" err="1"/>
              <a:t>PyTorch</a:t>
            </a:r>
            <a:r>
              <a:rPr lang="it-IT" dirty="0"/>
              <a:t> </a:t>
            </a:r>
            <a:r>
              <a:rPr lang="it-IT" dirty="0" err="1"/>
              <a:t>implementation</a:t>
            </a:r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6C02DBC-B923-BC7A-0326-D5B194959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 dirty="0"/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B85BC608-D692-1780-9231-079BBDFDAD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708622"/>
              </p:ext>
            </p:extLst>
          </p:nvPr>
        </p:nvGraphicFramePr>
        <p:xfrm>
          <a:off x="457200" y="1219675"/>
          <a:ext cx="7989216" cy="3558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4608">
                  <a:extLst>
                    <a:ext uri="{9D8B030D-6E8A-4147-A177-3AD203B41FA5}">
                      <a16:colId xmlns:a16="http://schemas.microsoft.com/office/drawing/2014/main" val="3978634765"/>
                    </a:ext>
                  </a:extLst>
                </a:gridCol>
                <a:gridCol w="3994608">
                  <a:extLst>
                    <a:ext uri="{9D8B030D-6E8A-4147-A177-3AD203B41FA5}">
                      <a16:colId xmlns:a16="http://schemas.microsoft.com/office/drawing/2014/main" val="2570588328"/>
                    </a:ext>
                  </a:extLst>
                </a:gridCol>
              </a:tblGrid>
              <a:tr h="444765">
                <a:tc>
                  <a:txBody>
                    <a:bodyPr/>
                    <a:lstStyle/>
                    <a:p>
                      <a:r>
                        <a:rPr lang="it-IT" dirty="0" err="1"/>
                        <a:t>Parameter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9290908"/>
                  </a:ext>
                </a:extLst>
              </a:tr>
              <a:tr h="444765">
                <a:tc>
                  <a:txBody>
                    <a:bodyPr/>
                    <a:lstStyle/>
                    <a:p>
                      <a:r>
                        <a:rPr lang="it-IT" dirty="0" err="1"/>
                        <a:t>Optimizer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AdamW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350540"/>
                  </a:ext>
                </a:extLst>
              </a:tr>
              <a:tr h="444765">
                <a:tc>
                  <a:txBody>
                    <a:bodyPr/>
                    <a:lstStyle/>
                    <a:p>
                      <a:r>
                        <a:rPr lang="it-IT" dirty="0"/>
                        <a:t>Learning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2e-4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286626"/>
                  </a:ext>
                </a:extLst>
              </a:tr>
              <a:tr h="444765">
                <a:tc>
                  <a:txBody>
                    <a:bodyPr/>
                    <a:lstStyle/>
                    <a:p>
                      <a:r>
                        <a:rPr lang="it-IT" dirty="0"/>
                        <a:t>Weight </a:t>
                      </a:r>
                      <a:r>
                        <a:rPr lang="it-IT" dirty="0" err="1"/>
                        <a:t>decay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1°-4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651344"/>
                  </a:ext>
                </a:extLst>
              </a:tr>
              <a:tr h="444765">
                <a:tc>
                  <a:txBody>
                    <a:bodyPr/>
                    <a:lstStyle/>
                    <a:p>
                      <a:r>
                        <a:rPr lang="it-IT" dirty="0"/>
                        <a:t>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57301"/>
                  </a:ext>
                </a:extLst>
              </a:tr>
              <a:tr h="444765">
                <a:tc>
                  <a:txBody>
                    <a:bodyPr/>
                    <a:lstStyle/>
                    <a:p>
                      <a:r>
                        <a:rPr lang="it-IT" dirty="0" err="1"/>
                        <a:t>Diffusion</a:t>
                      </a:r>
                      <a:r>
                        <a:rPr lang="it-IT" dirty="0"/>
                        <a:t>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2617508"/>
                  </a:ext>
                </a:extLst>
              </a:tr>
              <a:tr h="444765">
                <a:tc>
                  <a:txBody>
                    <a:bodyPr/>
                    <a:lstStyle/>
                    <a:p>
                      <a:r>
                        <a:rPr lang="it-IT" dirty="0"/>
                        <a:t>EMA </a:t>
                      </a:r>
                      <a:r>
                        <a:rPr lang="it-IT" dirty="0" err="1"/>
                        <a:t>decay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0.9999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1071129"/>
                  </a:ext>
                </a:extLst>
              </a:tr>
              <a:tr h="444765">
                <a:tc>
                  <a:txBody>
                    <a:bodyPr/>
                    <a:lstStyle/>
                    <a:p>
                      <a:r>
                        <a:rPr lang="it-IT" dirty="0" err="1"/>
                        <a:t>Scheduler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Cosine </a:t>
                      </a:r>
                      <a:r>
                        <a:rPr lang="it-IT" dirty="0" err="1"/>
                        <a:t>Annealing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60694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DDIM Acceleration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DDPM: </a:t>
            </a:r>
            <a:endParaRPr lang="it-IT" dirty="0"/>
          </a:p>
          <a:p>
            <a:pPr lvl="1"/>
            <a:r>
              <a:rPr dirty="0"/>
              <a:t>1000 steps</a:t>
            </a:r>
            <a:endParaRPr lang="it-IT" dirty="0"/>
          </a:p>
          <a:p>
            <a:pPr lvl="1"/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process</a:t>
            </a:r>
            <a:endParaRPr lang="it-IT" dirty="0"/>
          </a:p>
          <a:p>
            <a:pPr lvl="1"/>
            <a:r>
              <a:rPr lang="it-IT" dirty="0"/>
              <a:t>Slow </a:t>
            </a:r>
            <a:r>
              <a:rPr lang="it-IT" dirty="0" err="1"/>
              <a:t>inference</a:t>
            </a:r>
            <a:endParaRPr dirty="0"/>
          </a:p>
          <a:p>
            <a:r>
              <a:rPr dirty="0"/>
              <a:t>DDIM: </a:t>
            </a:r>
            <a:endParaRPr lang="it-IT" dirty="0"/>
          </a:p>
          <a:p>
            <a:pPr lvl="1"/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formulation</a:t>
            </a:r>
            <a:r>
              <a:rPr lang="it-IT" dirty="0"/>
              <a:t> (η = 0)</a:t>
            </a:r>
          </a:p>
          <a:p>
            <a:pPr lvl="1"/>
            <a:r>
              <a:rPr lang="it-IT" dirty="0" err="1"/>
              <a:t>Uses</a:t>
            </a:r>
            <a:r>
              <a:rPr lang="it-IT" dirty="0"/>
              <a:t> </a:t>
            </a:r>
            <a:r>
              <a:rPr lang="it-IT" dirty="0" err="1"/>
              <a:t>fewer</a:t>
            </a:r>
            <a:r>
              <a:rPr lang="it-IT" dirty="0"/>
              <a:t> </a:t>
            </a:r>
            <a:r>
              <a:rPr lang="it-IT" dirty="0" err="1"/>
              <a:t>timesteps</a:t>
            </a:r>
            <a:endParaRPr lang="it-IT" dirty="0"/>
          </a:p>
          <a:p>
            <a:pPr lvl="1"/>
            <a:r>
              <a:rPr lang="it-IT" dirty="0"/>
              <a:t>No </a:t>
            </a:r>
            <a:r>
              <a:rPr lang="it-IT" dirty="0" err="1"/>
              <a:t>retraining</a:t>
            </a:r>
            <a:r>
              <a:rPr lang="it-IT" dirty="0"/>
              <a:t> </a:t>
            </a:r>
            <a:r>
              <a:rPr lang="it-IT" dirty="0" err="1"/>
              <a:t>required</a:t>
            </a:r>
            <a:endParaRPr lang="it-IT" dirty="0"/>
          </a:p>
          <a:p>
            <a:r>
              <a:rPr lang="it-IT" dirty="0" err="1"/>
              <a:t>Expected</a:t>
            </a:r>
            <a:r>
              <a:rPr lang="it-IT" dirty="0"/>
              <a:t> speed-up:</a:t>
            </a:r>
          </a:p>
          <a:p>
            <a:pPr lvl="1"/>
            <a:r>
              <a:rPr lang="it-IT" dirty="0"/>
              <a:t>DDIM: </a:t>
            </a:r>
            <a:r>
              <a:rPr dirty="0"/>
              <a:t>100 steps (~10× faster)</a:t>
            </a:r>
          </a:p>
          <a:p>
            <a:pPr lvl="1"/>
            <a:r>
              <a:rPr dirty="0"/>
              <a:t>DDIM: 10 steps (~100× faster)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0667843-488C-6989-1FC7-007D14EE5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55E6C36C-77E1-AFFC-6296-F578DA217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7214218"/>
              </p:ext>
            </p:extLst>
          </p:nvPr>
        </p:nvGraphicFramePr>
        <p:xfrm>
          <a:off x="5252300" y="1597517"/>
          <a:ext cx="3434500" cy="1549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7250">
                  <a:extLst>
                    <a:ext uri="{9D8B030D-6E8A-4147-A177-3AD203B41FA5}">
                      <a16:colId xmlns:a16="http://schemas.microsoft.com/office/drawing/2014/main" val="974034745"/>
                    </a:ext>
                  </a:extLst>
                </a:gridCol>
                <a:gridCol w="1717250">
                  <a:extLst>
                    <a:ext uri="{9D8B030D-6E8A-4147-A177-3AD203B41FA5}">
                      <a16:colId xmlns:a16="http://schemas.microsoft.com/office/drawing/2014/main" val="3573356381"/>
                    </a:ext>
                  </a:extLst>
                </a:gridCol>
              </a:tblGrid>
              <a:tr h="426744">
                <a:tc>
                  <a:txBody>
                    <a:bodyPr/>
                    <a:lstStyle/>
                    <a:p>
                      <a:r>
                        <a:rPr lang="it-IT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Sampling Steps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4759027"/>
                  </a:ext>
                </a:extLst>
              </a:tr>
              <a:tr h="374237">
                <a:tc>
                  <a:txBody>
                    <a:bodyPr/>
                    <a:lstStyle/>
                    <a:p>
                      <a:r>
                        <a:rPr lang="it-IT" dirty="0"/>
                        <a:t>DDPM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3583224"/>
                  </a:ext>
                </a:extLst>
              </a:tr>
              <a:tr h="374237">
                <a:tc>
                  <a:txBody>
                    <a:bodyPr/>
                    <a:lstStyle/>
                    <a:p>
                      <a:r>
                        <a:rPr lang="it-IT" dirty="0"/>
                        <a:t>DDIM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5714844"/>
                  </a:ext>
                </a:extLst>
              </a:tr>
              <a:tr h="374237">
                <a:tc>
                  <a:txBody>
                    <a:bodyPr/>
                    <a:lstStyle/>
                    <a:p>
                      <a:r>
                        <a:rPr lang="it-IT" dirty="0"/>
                        <a:t>DDIM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440738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 &amp;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92691"/>
          </a:xfrm>
        </p:spPr>
        <p:txBody>
          <a:bodyPr>
            <a:normAutofit/>
          </a:bodyPr>
          <a:lstStyle/>
          <a:p>
            <a:r>
              <a:rPr dirty="0"/>
              <a:t>Metrics:</a:t>
            </a:r>
          </a:p>
          <a:p>
            <a:pPr lvl="1"/>
            <a:r>
              <a:rPr dirty="0"/>
              <a:t>FID (lower is better)</a:t>
            </a:r>
          </a:p>
          <a:p>
            <a:pPr lvl="1"/>
            <a:r>
              <a:rPr dirty="0"/>
              <a:t>Inception Score (higher is better)</a:t>
            </a:r>
            <a:endParaRPr lang="it-IT" dirty="0"/>
          </a:p>
          <a:p>
            <a:pPr lvl="1"/>
            <a:endParaRPr dirty="0"/>
          </a:p>
          <a:p>
            <a:r>
              <a:rPr dirty="0"/>
              <a:t>Results: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6F1442B2-0BA9-8FCD-0D0D-B6D028F50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33C8470B-7984-9968-A306-0979751873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5999236"/>
              </p:ext>
            </p:extLst>
          </p:nvPr>
        </p:nvGraphicFramePr>
        <p:xfrm>
          <a:off x="457200" y="4644200"/>
          <a:ext cx="8229600" cy="1596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34563501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700762676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393924211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588970487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3985956653"/>
                    </a:ext>
                  </a:extLst>
                </a:gridCol>
              </a:tblGrid>
              <a:tr h="3990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/>
                        <a:t>Steps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Speed-Up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FID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008517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r>
                        <a:rPr lang="it-IT" dirty="0"/>
                        <a:t>DDPM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~45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~7.5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554962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r>
                        <a:rPr lang="it-IT" dirty="0"/>
                        <a:t>DDIM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~10×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~48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/>
                        <a:t>~7.3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6604297"/>
                  </a:ext>
                </a:extLst>
              </a:tr>
              <a:tr h="399086">
                <a:tc>
                  <a:txBody>
                    <a:bodyPr/>
                    <a:lstStyle/>
                    <a:p>
                      <a:r>
                        <a:rPr lang="it-IT" dirty="0"/>
                        <a:t>DDIM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~100×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~65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/>
                        <a:t>~6.8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8668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FEC2F1-C908-7D7E-9D3F-B7E584FDF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Model Evaluation &amp; </a:t>
            </a:r>
            <a:r>
              <a:rPr lang="it-IT" dirty="0" err="1"/>
              <a:t>Results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E888C4-BF88-422E-6CE1-176BA5972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143000"/>
          </a:xfrm>
        </p:spPr>
        <p:txBody>
          <a:bodyPr>
            <a:normAutofit fontScale="92500"/>
          </a:bodyPr>
          <a:lstStyle/>
          <a:p>
            <a:r>
              <a:rPr lang="it-IT" dirty="0"/>
              <a:t>DDIM with 100 steps </a:t>
            </a:r>
            <a:r>
              <a:rPr lang="it-IT" dirty="0" err="1"/>
              <a:t>preserves</a:t>
            </a:r>
            <a:r>
              <a:rPr lang="it-IT" dirty="0"/>
              <a:t> </a:t>
            </a:r>
            <a:r>
              <a:rPr lang="it-IT" dirty="0" err="1"/>
              <a:t>most</a:t>
            </a:r>
            <a:r>
              <a:rPr lang="it-IT" dirty="0"/>
              <a:t> image </a:t>
            </a:r>
            <a:r>
              <a:rPr lang="it-IT" dirty="0" err="1"/>
              <a:t>quality</a:t>
            </a:r>
            <a:r>
              <a:rPr lang="it-IT" dirty="0"/>
              <a:t> </a:t>
            </a:r>
            <a:r>
              <a:rPr lang="it-IT" dirty="0" err="1"/>
              <a:t>while</a:t>
            </a:r>
            <a:r>
              <a:rPr lang="it-IT" dirty="0"/>
              <a:t> </a:t>
            </a:r>
            <a:r>
              <a:rPr lang="it-IT" dirty="0" err="1"/>
              <a:t>achieving</a:t>
            </a:r>
            <a:r>
              <a:rPr lang="it-IT" dirty="0"/>
              <a:t> </a:t>
            </a:r>
            <a:r>
              <a:rPr lang="it-IT" dirty="0" err="1"/>
              <a:t>significant</a:t>
            </a:r>
            <a:r>
              <a:rPr lang="it-IT" dirty="0"/>
              <a:t> </a:t>
            </a:r>
            <a:r>
              <a:rPr lang="it-IT" dirty="0" err="1"/>
              <a:t>acceleration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393B3D3-64CD-DE6D-CCE5-9AC2DD533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6795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Conclusions</a:t>
            </a:r>
            <a:r>
              <a:rPr lang="it-IT" dirty="0"/>
              <a:t> &amp; Future Works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 b="1" dirty="0" err="1"/>
              <a:t>Conclusions</a:t>
            </a:r>
            <a:endParaRPr lang="it-IT" b="1" dirty="0"/>
          </a:p>
          <a:p>
            <a:pPr lvl="1"/>
            <a:r>
              <a:rPr dirty="0"/>
              <a:t>DDIM provides substantial acceleration with limited quality degradation.</a:t>
            </a:r>
            <a:endParaRPr lang="it-IT" dirty="0"/>
          </a:p>
          <a:p>
            <a:pPr lvl="1"/>
            <a:r>
              <a:rPr lang="it-IT" dirty="0"/>
              <a:t>EMA, AMP, and </a:t>
            </a:r>
            <a:r>
              <a:rPr lang="it-IT" dirty="0" err="1"/>
              <a:t>gradient</a:t>
            </a:r>
            <a:r>
              <a:rPr lang="it-IT" dirty="0"/>
              <a:t> clipping </a:t>
            </a:r>
            <a:r>
              <a:rPr lang="it-IT" dirty="0" err="1"/>
              <a:t>improve</a:t>
            </a:r>
            <a:r>
              <a:rPr lang="it-IT" dirty="0"/>
              <a:t> training </a:t>
            </a:r>
            <a:r>
              <a:rPr lang="it-IT" dirty="0" err="1"/>
              <a:t>stability</a:t>
            </a:r>
            <a:r>
              <a:rPr lang="it-IT" dirty="0"/>
              <a:t>.</a:t>
            </a:r>
          </a:p>
          <a:p>
            <a:pPr marL="0" indent="0">
              <a:buNone/>
            </a:pPr>
            <a:endParaRPr lang="it-IT" dirty="0"/>
          </a:p>
          <a:p>
            <a:r>
              <a:rPr lang="it-IT" b="1" dirty="0"/>
              <a:t>Future Work</a:t>
            </a:r>
          </a:p>
          <a:p>
            <a:pPr lvl="1"/>
            <a:r>
              <a:rPr lang="it-IT" dirty="0" err="1"/>
              <a:t>Latent</a:t>
            </a:r>
            <a:r>
              <a:rPr lang="it-IT" dirty="0"/>
              <a:t> </a:t>
            </a:r>
            <a:r>
              <a:rPr lang="it-IT" dirty="0" err="1"/>
              <a:t>Diffusion</a:t>
            </a:r>
            <a:r>
              <a:rPr lang="it-IT" dirty="0"/>
              <a:t> Models</a:t>
            </a:r>
          </a:p>
          <a:p>
            <a:pPr lvl="1"/>
            <a:r>
              <a:rPr lang="it-IT" dirty="0"/>
              <a:t>Progressive </a:t>
            </a:r>
            <a:r>
              <a:rPr lang="it-IT" dirty="0" err="1"/>
              <a:t>Distillation</a:t>
            </a:r>
            <a:endParaRPr lang="it-IT" dirty="0"/>
          </a:p>
          <a:p>
            <a:pPr lvl="1"/>
            <a:r>
              <a:rPr lang="it-IT" dirty="0" err="1"/>
              <a:t>Classifier</a:t>
            </a:r>
            <a:r>
              <a:rPr lang="it-IT" dirty="0"/>
              <a:t>-Free </a:t>
            </a:r>
            <a:r>
              <a:rPr lang="it-IT" dirty="0" err="1"/>
              <a:t>Guidance</a:t>
            </a:r>
            <a:endParaRPr lang="it-IT" dirty="0"/>
          </a:p>
          <a:p>
            <a:pPr lvl="1"/>
            <a:r>
              <a:rPr lang="it-IT" dirty="0" err="1"/>
              <a:t>Higher-resolution</a:t>
            </a:r>
            <a:r>
              <a:rPr lang="it-IT" dirty="0"/>
              <a:t> datasets</a:t>
            </a:r>
          </a:p>
          <a:p>
            <a:endParaRPr dirty="0"/>
          </a:p>
          <a:p>
            <a:endParaRPr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CBCB4F1-E9F8-9FE4-6104-C8D893210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6267E1-05DC-FEE4-E00A-8B2F729C0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References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BEC3AC3-D96F-74C1-C578-6A4EF38F3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References:</a:t>
            </a:r>
          </a:p>
          <a:p>
            <a:pPr lvl="1"/>
            <a:r>
              <a:rPr lang="da-DK" dirty="0"/>
              <a:t>Ho et al. (2020)</a:t>
            </a:r>
          </a:p>
          <a:p>
            <a:pPr lvl="1"/>
            <a:r>
              <a:rPr lang="da-DK" dirty="0"/>
              <a:t>Song et al. (2021)</a:t>
            </a:r>
          </a:p>
          <a:p>
            <a:pPr lvl="1"/>
            <a:r>
              <a:rPr lang="da-DK" dirty="0"/>
              <a:t>Nichol &amp; Dhariwal (2021)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A90899F-7CF6-4F2A-9BBA-309A295CF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235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414</Words>
  <Application>Microsoft Office PowerPoint</Application>
  <PresentationFormat>Presentazione su schermo (4:3)</PresentationFormat>
  <Paragraphs>153</Paragraphs>
  <Slides>13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Lightweight Diffusion Models:</vt:lpstr>
      <vt:lpstr>Outline</vt:lpstr>
      <vt:lpstr>Problem Statement</vt:lpstr>
      <vt:lpstr>State of the Art</vt:lpstr>
      <vt:lpstr>Proposed Method</vt:lpstr>
      <vt:lpstr>Dataset</vt:lpstr>
      <vt:lpstr>Model Architecture</vt:lpstr>
      <vt:lpstr>Experimental Setup</vt:lpstr>
      <vt:lpstr>DDIM Acceleration</vt:lpstr>
      <vt:lpstr>Model Evaluation &amp; Results</vt:lpstr>
      <vt:lpstr>Model Evaluation &amp; Results</vt:lpstr>
      <vt:lpstr>Conclusions &amp; Future Works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Yuriy Fedoryuk</cp:lastModifiedBy>
  <cp:revision>3</cp:revision>
  <dcterms:created xsi:type="dcterms:W3CDTF">2013-01-27T09:14:16Z</dcterms:created>
  <dcterms:modified xsi:type="dcterms:W3CDTF">2026-06-08T19:25:48Z</dcterms:modified>
  <cp:category/>
</cp:coreProperties>
</file>