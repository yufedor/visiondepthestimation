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8" r:id="rId13"/>
    <p:sldId id="270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0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8EC90-BB58-4B98-AAB6-6865120F2ED6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77AB4-215A-45BB-8CEE-916E6DFE10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195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16E2-43C4-46AF-B036-BC7B751D8515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6D57-853A-47DA-98C6-E50468443C2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1DB4-682D-4838-9CAB-F4609708557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B39E-AF68-46B2-8C1A-45CA30F35A1C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7583-1C38-45FF-B195-7CD7FB48B0EE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FEBF-CF88-4CAE-8F05-DA4B85E57F2E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E1093-6204-4652-AC4D-E5B7B655472E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2239-7093-4D5A-8035-4240E65FF0BC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512E-935D-4DB0-9971-BD72CC75BAEB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B41CF-0AE6-4229-BD7D-50CCDA9A5DC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40D92-BB4D-4873-806B-6D8BF688618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12670-CD27-462B-BE92-CEC6474A909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magine 48">
            <a:extLst>
              <a:ext uri="{FF2B5EF4-FFF2-40B4-BE49-F238E27FC236}">
                <a16:creationId xmlns:a16="http://schemas.microsoft.com/office/drawing/2014/main" id="{7FB26858-2BBB-E083-6850-BFB852E2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9143"/>
            <a:ext cx="9144000" cy="39188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Lightweight Diffusion Models: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dirty="0"/>
              <a:t>Accelerating Training and Inference for Resource-Constrained Environments</a:t>
            </a:r>
          </a:p>
          <a:p>
            <a:pPr marL="0" indent="0">
              <a:buNone/>
            </a:pPr>
            <a:endParaRPr lang="en-US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Course: Computer Vision			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Author: Yuriy Fedoryuk			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Data: 15/07/2026				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algn="r"/>
            <a:r>
              <a:rPr lang="en-US" sz="2400" b="1" dirty="0">
                <a:solidFill>
                  <a:schemeClr val="bg1"/>
                </a:solidFill>
              </a:rPr>
              <a:t>Key Technologies</a:t>
            </a:r>
            <a:endParaRPr lang="en-US" sz="2400" dirty="0">
              <a:solidFill>
                <a:schemeClr val="bg1"/>
              </a:solidFill>
            </a:endParaRPr>
          </a:p>
          <a:p>
            <a:pPr lvl="1" algn="r"/>
            <a:r>
              <a:rPr lang="en-US" sz="2000" dirty="0">
                <a:solidFill>
                  <a:schemeClr val="bg1"/>
                </a:solidFill>
              </a:rPr>
              <a:t>DDPM</a:t>
            </a:r>
          </a:p>
          <a:p>
            <a:pPr lvl="1" algn="r"/>
            <a:r>
              <a:rPr lang="en-US" sz="2000" dirty="0">
                <a:solidFill>
                  <a:schemeClr val="bg1"/>
                </a:solidFill>
              </a:rPr>
              <a:t>DDIM</a:t>
            </a:r>
          </a:p>
          <a:p>
            <a:pPr lvl="1" algn="r"/>
            <a:r>
              <a:rPr lang="en-US" sz="2000" dirty="0" err="1">
                <a:solidFill>
                  <a:schemeClr val="bg1"/>
                </a:solidFill>
              </a:rPr>
              <a:t>PyTorch</a:t>
            </a:r>
            <a:endParaRPr lang="en-US" sz="2000" dirty="0">
              <a:solidFill>
                <a:schemeClr val="bg1"/>
              </a:solidFill>
            </a:endParaRPr>
          </a:p>
          <a:p>
            <a:pPr lvl="1" algn="r"/>
            <a:r>
              <a:rPr lang="en-US" sz="2000" dirty="0">
                <a:solidFill>
                  <a:schemeClr val="bg1"/>
                </a:solidFill>
              </a:rPr>
              <a:t>CIFAR-10</a:t>
            </a:r>
          </a:p>
          <a:p>
            <a:endParaRPr lang="en-US" sz="2400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DF6406-0D5C-9590-64E4-A942D62A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r>
              <a:rPr lang="en-US"/>
              <a:t>/15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Problem Statement</a:t>
            </a:r>
          </a:p>
          <a:p>
            <a:r>
              <a:rPr dirty="0"/>
              <a:t>State of the Art</a:t>
            </a:r>
          </a:p>
          <a:p>
            <a:r>
              <a:rPr dirty="0"/>
              <a:t>Proposed Method</a:t>
            </a:r>
          </a:p>
          <a:p>
            <a:r>
              <a:rPr dirty="0"/>
              <a:t>Dataset</a:t>
            </a:r>
          </a:p>
          <a:p>
            <a:r>
              <a:rPr dirty="0"/>
              <a:t>Model Architecture</a:t>
            </a:r>
          </a:p>
          <a:p>
            <a:r>
              <a:rPr dirty="0"/>
              <a:t>Experimental Setup</a:t>
            </a:r>
          </a:p>
          <a:p>
            <a:r>
              <a:rPr dirty="0"/>
              <a:t>DDIM Acceleration Strategy</a:t>
            </a:r>
          </a:p>
          <a:p>
            <a:r>
              <a:rPr dirty="0"/>
              <a:t>Model Evaluation</a:t>
            </a:r>
          </a:p>
          <a:p>
            <a:r>
              <a:rPr dirty="0"/>
              <a:t>Results and Ablation Study</a:t>
            </a:r>
          </a:p>
          <a:p>
            <a:r>
              <a:rPr dirty="0"/>
              <a:t>Conclusions</a:t>
            </a:r>
            <a:r>
              <a:rPr lang="it-IT" dirty="0"/>
              <a:t> &amp; Future Works</a:t>
            </a:r>
            <a:endParaRPr dirty="0"/>
          </a:p>
          <a:p>
            <a:r>
              <a:rPr dirty="0"/>
              <a:t>References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194B63-9E14-DEA3-40F4-69EA0777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r>
              <a:rPr lang="en-US" dirty="0"/>
              <a:t>/15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776644A-840D-455A-BBC0-D6E7813CC6BA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DDPMs generate high-quality images but require ~1000 denoising steps, making inference slow.</a:t>
            </a:r>
          </a:p>
          <a:p>
            <a:endParaRPr dirty="0"/>
          </a:p>
          <a:p>
            <a:r>
              <a:rPr dirty="0"/>
              <a:t>Goals:</a:t>
            </a:r>
          </a:p>
          <a:p>
            <a:pPr lvl="1"/>
            <a:r>
              <a:rPr dirty="0"/>
              <a:t>Implement DDPM baseline</a:t>
            </a:r>
          </a:p>
          <a:p>
            <a:pPr lvl="1"/>
            <a:r>
              <a:rPr dirty="0"/>
              <a:t>Integrate DDIM</a:t>
            </a:r>
          </a:p>
          <a:p>
            <a:pPr lvl="1"/>
            <a:r>
              <a:rPr dirty="0"/>
              <a:t>Measure speed-quality trade-off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752E6B-0385-FBA6-746F-9BD03632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B99CD4F-8467-9314-E1A6-98515650D180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of the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r>
              <a:rPr lang="it-IT" dirty="0"/>
              <a:t> </a:t>
            </a:r>
            <a:r>
              <a:rPr lang="it-IT" dirty="0" err="1"/>
              <a:t>Diffusion</a:t>
            </a:r>
            <a:r>
              <a:rPr lang="it-IT" dirty="0"/>
              <a:t> </a:t>
            </a:r>
            <a:r>
              <a:rPr lang="it-IT" dirty="0" err="1"/>
              <a:t>Probabilistic</a:t>
            </a:r>
            <a:r>
              <a:rPr lang="it-IT" dirty="0"/>
              <a:t> Models (</a:t>
            </a:r>
            <a:r>
              <a:rPr dirty="0"/>
              <a:t>DDPM Ho et al., 2020)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on:</a:t>
            </a:r>
            <a:endParaRPr dirty="0"/>
          </a:p>
          <a:p>
            <a:pPr lvl="1"/>
            <a:r>
              <a:rPr dirty="0"/>
              <a:t>Forward diffusion</a:t>
            </a:r>
            <a:r>
              <a:rPr lang="it-IT" dirty="0"/>
              <a:t> </a:t>
            </a:r>
            <a:r>
              <a:rPr lang="it-IT" dirty="0" err="1"/>
              <a:t>gradually</a:t>
            </a:r>
            <a:r>
              <a:rPr dirty="0"/>
              <a:t> adds noise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	x₀ → x₁ → x₂ → ... → xₜ</a:t>
            </a:r>
            <a:endParaRPr dirty="0"/>
          </a:p>
          <a:p>
            <a:pPr lvl="1"/>
            <a:r>
              <a:rPr dirty="0"/>
              <a:t>Reverse process</a:t>
            </a:r>
            <a:r>
              <a:rPr lang="it-IT" dirty="0"/>
              <a:t> </a:t>
            </a:r>
            <a:r>
              <a:rPr lang="it-IT" dirty="0" err="1"/>
              <a:t>learns</a:t>
            </a:r>
            <a:r>
              <a:rPr lang="it-IT" dirty="0"/>
              <a:t> to</a:t>
            </a:r>
            <a:r>
              <a:rPr dirty="0"/>
              <a:t> remove noise</a:t>
            </a:r>
          </a:p>
          <a:p>
            <a:pPr lvl="1"/>
            <a:r>
              <a:rPr dirty="0"/>
              <a:t>Excellent quality but slow sampling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34DA701-FB62-C443-7723-73880508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3829CCF-4477-2D64-06B3-F2DBB1FE67A3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6">
            <a:extLst>
              <a:ext uri="{FF2B5EF4-FFF2-40B4-BE49-F238E27FC236}">
                <a16:creationId xmlns:a16="http://schemas.microsoft.com/office/drawing/2014/main" id="{026486B6-34ED-9000-41E7-6835B241B3A7}"/>
              </a:ext>
            </a:extLst>
          </p:cNvPr>
          <p:cNvSpPr/>
          <p:nvPr/>
        </p:nvSpPr>
        <p:spPr>
          <a:xfrm>
            <a:off x="877136" y="3004936"/>
            <a:ext cx="7818710" cy="749808"/>
          </a:xfrm>
          <a:prstGeom prst="roundRect">
            <a:avLst>
              <a:gd name="adj" fmla="val 9756"/>
            </a:avLst>
          </a:prstGeom>
          <a:solidFill>
            <a:srgbClr val="EDF6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84" y="2458065"/>
            <a:ext cx="8229600" cy="356532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Baseline DDPM + DDIM accelerated sampling</a:t>
            </a:r>
          </a:p>
          <a:p>
            <a:endParaRPr lang="it-IT" dirty="0"/>
          </a:p>
          <a:p>
            <a:endParaRPr dirty="0"/>
          </a:p>
          <a:p>
            <a:r>
              <a:rPr dirty="0"/>
              <a:t>Benefits:</a:t>
            </a:r>
          </a:p>
          <a:p>
            <a:pPr lvl="1"/>
            <a:r>
              <a:rPr dirty="0"/>
              <a:t>No retraining required</a:t>
            </a:r>
            <a:endParaRPr lang="it-IT" dirty="0"/>
          </a:p>
          <a:p>
            <a:pPr lvl="1"/>
            <a:r>
              <a:rPr lang="it-IT" dirty="0"/>
              <a:t>Same U-Net weights</a:t>
            </a:r>
            <a:endParaRPr dirty="0"/>
          </a:p>
          <a:p>
            <a:pPr lvl="1"/>
            <a:r>
              <a:rPr dirty="0"/>
              <a:t>Deterministic sampling</a:t>
            </a:r>
          </a:p>
          <a:p>
            <a:pPr lvl="1"/>
            <a:r>
              <a:rPr dirty="0"/>
              <a:t>10×–100× faster generation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7C40AFB-DE73-7B44-81C8-5C28B70C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r>
              <a:rPr lang="en-US" dirty="0"/>
              <a:t>/15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C609E2F-BA0D-74E9-F684-817AF1F36837}"/>
              </a:ext>
            </a:extLst>
          </p:cNvPr>
          <p:cNvSpPr/>
          <p:nvPr/>
        </p:nvSpPr>
        <p:spPr>
          <a:xfrm>
            <a:off x="877136" y="1375532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C76CBC8-CA27-D90A-D264-98D6E64B2412}"/>
              </a:ext>
            </a:extLst>
          </p:cNvPr>
          <p:cNvSpPr/>
          <p:nvPr/>
        </p:nvSpPr>
        <p:spPr>
          <a:xfrm>
            <a:off x="877136" y="13755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33C16B12-E4A6-40E8-CAD9-72DB850152BE}"/>
              </a:ext>
            </a:extLst>
          </p:cNvPr>
          <p:cNvSpPr/>
          <p:nvPr/>
        </p:nvSpPr>
        <p:spPr>
          <a:xfrm>
            <a:off x="2577920" y="1787012"/>
            <a:ext cx="18288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6626B24-0607-7161-2814-8108E8A00184}"/>
              </a:ext>
            </a:extLst>
          </p:cNvPr>
          <p:cNvSpPr/>
          <p:nvPr/>
        </p:nvSpPr>
        <p:spPr>
          <a:xfrm>
            <a:off x="2769944" y="1375532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FBDEF39-616A-D30E-7498-33A84B180069}"/>
              </a:ext>
            </a:extLst>
          </p:cNvPr>
          <p:cNvSpPr/>
          <p:nvPr/>
        </p:nvSpPr>
        <p:spPr>
          <a:xfrm>
            <a:off x="2769944" y="13755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3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657A4C2-C358-95DA-D3CB-E5AD60CED56E}"/>
              </a:ext>
            </a:extLst>
          </p:cNvPr>
          <p:cNvSpPr/>
          <p:nvPr/>
        </p:nvSpPr>
        <p:spPr>
          <a:xfrm>
            <a:off x="4470728" y="1787012"/>
            <a:ext cx="18288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5911057-590E-5449-5FE7-339FDA0339C4}"/>
              </a:ext>
            </a:extLst>
          </p:cNvPr>
          <p:cNvSpPr/>
          <p:nvPr/>
        </p:nvSpPr>
        <p:spPr>
          <a:xfrm>
            <a:off x="4662752" y="1375532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C0A5D31-3DD6-13B9-600E-D7DF09E0EEA3}"/>
              </a:ext>
            </a:extLst>
          </p:cNvPr>
          <p:cNvSpPr/>
          <p:nvPr/>
        </p:nvSpPr>
        <p:spPr>
          <a:xfrm>
            <a:off x="4662752" y="13755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13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624E63D-DC88-D901-701E-8947A299F43A}"/>
              </a:ext>
            </a:extLst>
          </p:cNvPr>
          <p:cNvSpPr/>
          <p:nvPr/>
        </p:nvSpPr>
        <p:spPr>
          <a:xfrm>
            <a:off x="6363536" y="1787012"/>
            <a:ext cx="18288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74F1E09-0FBB-2C91-808D-E09E6D754111}"/>
              </a:ext>
            </a:extLst>
          </p:cNvPr>
          <p:cNvSpPr/>
          <p:nvPr/>
        </p:nvSpPr>
        <p:spPr>
          <a:xfrm>
            <a:off x="6555560" y="1375532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57E32BA-1F9E-8409-99D8-9387771B81BF}"/>
              </a:ext>
            </a:extLst>
          </p:cNvPr>
          <p:cNvSpPr/>
          <p:nvPr/>
        </p:nvSpPr>
        <p:spPr>
          <a:xfrm>
            <a:off x="6555560" y="13755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F9B2B7A-9F49-EFBA-43C8-A798D059EFB5}"/>
              </a:ext>
            </a:extLst>
          </p:cNvPr>
          <p:cNvSpPr/>
          <p:nvPr/>
        </p:nvSpPr>
        <p:spPr>
          <a:xfrm>
            <a:off x="1066308" y="2994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Update Rule:</a:t>
            </a:r>
            <a:endParaRPr lang="en-US" sz="11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7E55EB9-503F-D764-E49D-90FEA9EB27CB}"/>
              </a:ext>
            </a:extLst>
          </p:cNvPr>
          <p:cNvSpPr/>
          <p:nvPr/>
        </p:nvSpPr>
        <p:spPr>
          <a:xfrm>
            <a:off x="1066308" y="33273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x_{t-1}  =  √ᾱ_{t-1} · x̂₀  +  √(1-ᾱ_{t-1} - σ²) · ε_θ(x_t, t)  +  σ · ε</a:t>
            </a:r>
            <a:endParaRPr lang="en-US" sz="12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C9EE4C5B-C218-2A4C-BB85-B0B7CBBFA2A4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43232"/>
          </a:xfrm>
        </p:spPr>
        <p:txBody>
          <a:bodyPr>
            <a:normAutofit lnSpcReduction="10000"/>
          </a:bodyPr>
          <a:lstStyle/>
          <a:p>
            <a:r>
              <a:rPr dirty="0"/>
              <a:t>CIFAR-10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B58C025-662A-F28E-E1BA-16B22B57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287"/>
            <a:ext cx="9144000" cy="110818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B2E5234-2FD8-01C7-B05C-E9702D802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2309"/>
            <a:ext cx="9143992" cy="1108187"/>
          </a:xfrm>
          <a:prstGeom prst="rect">
            <a:avLst/>
          </a:prstGeom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CF93F6-3002-1076-7B40-40AD5A5D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r>
              <a:rPr lang="en-US" dirty="0"/>
              <a:t>/15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E0E8AF2-C2D2-80B5-E0B4-20624575A4CE}"/>
              </a:ext>
            </a:extLst>
          </p:cNvPr>
          <p:cNvSpPr/>
          <p:nvPr/>
        </p:nvSpPr>
        <p:spPr>
          <a:xfrm>
            <a:off x="244330" y="227472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EDF6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FA35E7F-781B-65F6-22C5-A60E00D6B3E5}"/>
              </a:ext>
            </a:extLst>
          </p:cNvPr>
          <p:cNvSpPr/>
          <p:nvPr/>
        </p:nvSpPr>
        <p:spPr>
          <a:xfrm>
            <a:off x="427210" y="23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06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B8E3F84-798C-CA24-5308-E8D154D34C66}"/>
              </a:ext>
            </a:extLst>
          </p:cNvPr>
          <p:cNvSpPr/>
          <p:nvPr/>
        </p:nvSpPr>
        <p:spPr>
          <a:xfrm>
            <a:off x="427210" y="26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</a:t>
            </a:r>
            <a:endParaRPr lang="en-US" sz="9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74537D5-B3C6-CAF5-BA35-EB37C2CD2C12}"/>
              </a:ext>
            </a:extLst>
          </p:cNvPr>
          <p:cNvSpPr/>
          <p:nvPr/>
        </p:nvSpPr>
        <p:spPr>
          <a:xfrm>
            <a:off x="2054842" y="23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06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5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D5B40C1-A074-A337-96F4-E788520DDAE1}"/>
              </a:ext>
            </a:extLst>
          </p:cNvPr>
          <p:cNvSpPr/>
          <p:nvPr/>
        </p:nvSpPr>
        <p:spPr>
          <a:xfrm>
            <a:off x="2054842" y="26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95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171EBBD-4E73-1BB5-CB7A-16A7D308D539}"/>
              </a:ext>
            </a:extLst>
          </p:cNvPr>
          <p:cNvSpPr/>
          <p:nvPr/>
        </p:nvSpPr>
        <p:spPr>
          <a:xfrm>
            <a:off x="3682474" y="23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06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× 32</a:t>
            </a:r>
            <a:endParaRPr lang="en-US" sz="15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59A7DE0-FF2E-041B-0866-206F29FFB22A}"/>
              </a:ext>
            </a:extLst>
          </p:cNvPr>
          <p:cNvSpPr/>
          <p:nvPr/>
        </p:nvSpPr>
        <p:spPr>
          <a:xfrm>
            <a:off x="3682474" y="26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176E856-1368-40D2-88F0-FE1ABD8BF825}"/>
              </a:ext>
            </a:extLst>
          </p:cNvPr>
          <p:cNvSpPr/>
          <p:nvPr/>
        </p:nvSpPr>
        <p:spPr>
          <a:xfrm>
            <a:off x="5310106" y="23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06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E50DFE2-0B3D-78DA-3AB8-489FEDFED320}"/>
              </a:ext>
            </a:extLst>
          </p:cNvPr>
          <p:cNvSpPr/>
          <p:nvPr/>
        </p:nvSpPr>
        <p:spPr>
          <a:xfrm>
            <a:off x="5310106" y="26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7ED46B4-2218-DE3E-A385-CC3CF7AC006F}"/>
              </a:ext>
            </a:extLst>
          </p:cNvPr>
          <p:cNvSpPr/>
          <p:nvPr/>
        </p:nvSpPr>
        <p:spPr>
          <a:xfrm>
            <a:off x="6937738" y="23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06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</a:t>
            </a:r>
            <a:endParaRPr lang="en-US" sz="15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5C96E39-2347-C7D5-0927-951C44E1EADF}"/>
              </a:ext>
            </a:extLst>
          </p:cNvPr>
          <p:cNvSpPr/>
          <p:nvPr/>
        </p:nvSpPr>
        <p:spPr>
          <a:xfrm>
            <a:off x="6937738" y="26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AE586130-26F4-33CC-C89D-090A22EE553A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CAD6F05-D1D1-75F2-BD3E-EA29BC4AE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4179"/>
            <a:ext cx="4572000" cy="31664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Lightweight U-Net</a:t>
            </a:r>
          </a:p>
          <a:p>
            <a:pPr lvl="1"/>
            <a:r>
              <a:rPr dirty="0"/>
              <a:t>Encoder–Decoder</a:t>
            </a:r>
          </a:p>
          <a:p>
            <a:pPr lvl="1"/>
            <a:r>
              <a:rPr dirty="0"/>
              <a:t>Residual Blocks</a:t>
            </a:r>
          </a:p>
          <a:p>
            <a:pPr lvl="1"/>
            <a:r>
              <a:rPr dirty="0"/>
              <a:t>Self-Attention Bottleneck</a:t>
            </a:r>
          </a:p>
          <a:p>
            <a:pPr lvl="1"/>
            <a:r>
              <a:rPr dirty="0"/>
              <a:t>Sinusoidal Time Embeddings</a:t>
            </a:r>
          </a:p>
          <a:p>
            <a:pPr lvl="1"/>
            <a:r>
              <a:rPr dirty="0"/>
              <a:t>Skip Connections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DDD1148-5C33-7D06-A1C1-D06A4039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04FCB1B-828D-E5D8-3CFF-2D69662FE0ED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13349"/>
            <a:ext cx="8229600" cy="1205619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Stability</a:t>
            </a:r>
            <a:r>
              <a:rPr lang="it-IT" dirty="0"/>
              <a:t> Techniques</a:t>
            </a:r>
          </a:p>
          <a:p>
            <a:pPr lvl="1"/>
            <a:r>
              <a:rPr dirty="0"/>
              <a:t>AMP + EMA + Gradient Clipping</a:t>
            </a:r>
            <a:endParaRPr lang="it-IT" dirty="0"/>
          </a:p>
          <a:p>
            <a:r>
              <a:rPr lang="it-IT" dirty="0"/>
              <a:t>Hardware</a:t>
            </a:r>
          </a:p>
          <a:p>
            <a:pPr lvl="1"/>
            <a:r>
              <a:rPr lang="it-IT" dirty="0"/>
              <a:t>CPU-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PyTorch</a:t>
            </a:r>
            <a:r>
              <a:rPr lang="it-IT" dirty="0"/>
              <a:t> </a:t>
            </a:r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6C02DBC-B923-BC7A-0326-D5B19495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r>
              <a:rPr lang="en-US" dirty="0"/>
              <a:t>/15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EFEC900-76D9-3FD6-04EE-E9A298288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01089"/>
              </p:ext>
            </p:extLst>
          </p:nvPr>
        </p:nvGraphicFramePr>
        <p:xfrm>
          <a:off x="457199" y="1337509"/>
          <a:ext cx="3757064" cy="3875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532">
                  <a:extLst>
                    <a:ext uri="{9D8B030D-6E8A-4147-A177-3AD203B41FA5}">
                      <a16:colId xmlns:a16="http://schemas.microsoft.com/office/drawing/2014/main" val="3978634765"/>
                    </a:ext>
                  </a:extLst>
                </a:gridCol>
                <a:gridCol w="1878532">
                  <a:extLst>
                    <a:ext uri="{9D8B030D-6E8A-4147-A177-3AD203B41FA5}">
                      <a16:colId xmlns:a16="http://schemas.microsoft.com/office/drawing/2014/main" val="2570588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sz="1400" dirty="0" err="1"/>
                        <a:t>Parameter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290908"/>
                  </a:ext>
                </a:extLst>
              </a:tr>
              <a:tr h="231108">
                <a:tc>
                  <a:txBody>
                    <a:bodyPr/>
                    <a:lstStyle/>
                    <a:p>
                      <a:r>
                        <a:rPr lang="it-IT" sz="1400" dirty="0" err="1"/>
                        <a:t>Optimizer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AdamW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50540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4e-4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286626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Weight </a:t>
                      </a:r>
                      <a:r>
                        <a:rPr lang="it-IT" sz="1400" dirty="0" err="1"/>
                        <a:t>decay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1°-4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51344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57301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 err="1"/>
                        <a:t>Diffusion</a:t>
                      </a:r>
                      <a:r>
                        <a:rPr lang="it-IT" sz="1400" dirty="0"/>
                        <a:t> steps 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617508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EMA </a:t>
                      </a:r>
                      <a:r>
                        <a:rPr lang="it-IT" sz="1400" dirty="0" err="1"/>
                        <a:t>decay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071129"/>
                  </a:ext>
                </a:extLst>
              </a:tr>
              <a:tr h="207534">
                <a:tc>
                  <a:txBody>
                    <a:bodyPr/>
                    <a:lstStyle/>
                    <a:p>
                      <a:r>
                        <a:rPr lang="it-IT" sz="1400" dirty="0" err="1"/>
                        <a:t>Scheduler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Cosine </a:t>
                      </a:r>
                      <a:r>
                        <a:rPr lang="it-IT" sz="1400" dirty="0" err="1"/>
                        <a:t>Annealing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06948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Base </a:t>
                      </a:r>
                      <a:r>
                        <a:rPr lang="it-IT" sz="1400" dirty="0" err="1"/>
                        <a:t>dim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32 </a:t>
                      </a:r>
                      <a:r>
                        <a:rPr lang="it-IT" sz="1400" dirty="0" err="1"/>
                        <a:t>channels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59364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 err="1"/>
                        <a:t>Multipliers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(1, 2, 4)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262042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/>
                        <a:t>Time </a:t>
                      </a:r>
                      <a:r>
                        <a:rPr lang="it-IT" sz="1400" dirty="0" err="1"/>
                        <a:t>emb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429156"/>
                  </a:ext>
                </a:extLst>
              </a:tr>
              <a:tr h="329049">
                <a:tc>
                  <a:txBody>
                    <a:bodyPr/>
                    <a:lstStyle/>
                    <a:p>
                      <a:r>
                        <a:rPr lang="it-IT" sz="1400" dirty="0" err="1"/>
                        <a:t>Epochs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962127"/>
                  </a:ext>
                </a:extLst>
              </a:tr>
            </a:tbl>
          </a:graphicData>
        </a:graphic>
      </p:graphicFrame>
      <p:sp>
        <p:nvSpPr>
          <p:cNvPr id="10" name="Shape 1">
            <a:extLst>
              <a:ext uri="{FF2B5EF4-FFF2-40B4-BE49-F238E27FC236}">
                <a16:creationId xmlns:a16="http://schemas.microsoft.com/office/drawing/2014/main" id="{AE757E25-E688-067A-454B-99A7F4979214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C7FA0F4-E5DD-853D-B227-3A1F4BAE4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736" y="1337509"/>
            <a:ext cx="3757064" cy="49228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DCF87-D30E-C841-A2B2-A925CD5D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Training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14FA63-98BD-15E5-21C3-575E0B79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780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</a:p>
          <a:p>
            <a:pPr lvl="1"/>
            <a:r>
              <a:rPr lang="en-US" dirty="0"/>
              <a:t>Sharp drop in first 10 epochs (0.069 → 0.051)</a:t>
            </a:r>
          </a:p>
          <a:p>
            <a:pPr lvl="1"/>
            <a:r>
              <a:rPr lang="en-US" dirty="0"/>
              <a:t>Plateau ~0.04 after epoch 80</a:t>
            </a:r>
          </a:p>
          <a:p>
            <a:pPr lvl="1"/>
            <a:r>
              <a:rPr lang="en-US" dirty="0"/>
              <a:t>Smooth convergence — no instability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94DCF2-61D6-B69F-856F-20DDCDE7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r>
              <a:rPr lang="en-US" dirty="0"/>
              <a:t>/15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7751DDC-60F4-D8A5-D95F-9DC8C18A1F39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0203344-0F92-8467-86B9-467E925CF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74" y="3378274"/>
            <a:ext cx="7070651" cy="324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4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DDIM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51744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DDPM: </a:t>
            </a:r>
            <a:endParaRPr lang="it-IT" dirty="0"/>
          </a:p>
          <a:p>
            <a:pPr lvl="1"/>
            <a:r>
              <a:rPr dirty="0"/>
              <a:t>1000 steps</a:t>
            </a:r>
            <a:endParaRPr lang="it-IT" dirty="0"/>
          </a:p>
          <a:p>
            <a:pPr lvl="1"/>
            <a:r>
              <a:rPr lang="it-IT" dirty="0" err="1"/>
              <a:t>Stochastic</a:t>
            </a:r>
            <a:r>
              <a:rPr lang="it-IT" dirty="0"/>
              <a:t> </a:t>
            </a:r>
            <a:r>
              <a:rPr lang="it-IT" dirty="0" err="1"/>
              <a:t>process</a:t>
            </a:r>
            <a:endParaRPr lang="it-IT" dirty="0"/>
          </a:p>
          <a:p>
            <a:pPr lvl="1"/>
            <a:r>
              <a:rPr lang="it-IT" dirty="0"/>
              <a:t>Slow </a:t>
            </a:r>
            <a:r>
              <a:rPr lang="it-IT" dirty="0" err="1"/>
              <a:t>inference</a:t>
            </a:r>
            <a:endParaRPr lang="it-IT" dirty="0"/>
          </a:p>
          <a:p>
            <a:pPr lvl="1"/>
            <a:endParaRPr dirty="0"/>
          </a:p>
          <a:p>
            <a:r>
              <a:rPr dirty="0"/>
              <a:t>DDIM: </a:t>
            </a:r>
            <a:endParaRPr lang="it-IT" dirty="0"/>
          </a:p>
          <a:p>
            <a:pPr lvl="1"/>
            <a:r>
              <a:rPr lang="it-IT" dirty="0" err="1"/>
              <a:t>Deterministic</a:t>
            </a:r>
            <a:r>
              <a:rPr lang="it-IT" dirty="0"/>
              <a:t> </a:t>
            </a:r>
            <a:r>
              <a:rPr lang="it-IT" dirty="0" err="1"/>
              <a:t>formulation</a:t>
            </a:r>
            <a:r>
              <a:rPr lang="it-IT" dirty="0"/>
              <a:t> (η = 0)</a:t>
            </a:r>
          </a:p>
          <a:p>
            <a:pPr lvl="1"/>
            <a:r>
              <a:rPr lang="it-IT" dirty="0" err="1"/>
              <a:t>Uses</a:t>
            </a:r>
            <a:r>
              <a:rPr lang="it-IT" dirty="0"/>
              <a:t> </a:t>
            </a:r>
            <a:r>
              <a:rPr lang="it-IT" dirty="0" err="1"/>
              <a:t>fewer</a:t>
            </a:r>
            <a:r>
              <a:rPr lang="it-IT" dirty="0"/>
              <a:t> </a:t>
            </a:r>
            <a:r>
              <a:rPr lang="it-IT" dirty="0" err="1"/>
              <a:t>timesteps</a:t>
            </a:r>
            <a:endParaRPr lang="it-IT" dirty="0"/>
          </a:p>
          <a:p>
            <a:pPr lvl="1"/>
            <a:r>
              <a:rPr lang="it-IT" dirty="0"/>
              <a:t>No </a:t>
            </a:r>
            <a:r>
              <a:rPr lang="it-IT" dirty="0" err="1"/>
              <a:t>retraining</a:t>
            </a:r>
            <a:r>
              <a:rPr lang="it-IT" dirty="0"/>
              <a:t> </a:t>
            </a:r>
            <a:r>
              <a:rPr lang="it-IT" dirty="0" err="1"/>
              <a:t>required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 err="1"/>
              <a:t>Expected</a:t>
            </a:r>
            <a:r>
              <a:rPr lang="it-IT" dirty="0"/>
              <a:t> speed-up:</a:t>
            </a:r>
          </a:p>
          <a:p>
            <a:pPr lvl="1"/>
            <a:r>
              <a:rPr lang="it-IT" dirty="0"/>
              <a:t>DDIM: </a:t>
            </a:r>
            <a:r>
              <a:rPr dirty="0"/>
              <a:t>100 steps (~10× faster)</a:t>
            </a:r>
          </a:p>
          <a:p>
            <a:pPr lvl="1"/>
            <a:r>
              <a:rPr dirty="0"/>
              <a:t>DDIM: 10 steps (~100× faster)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667843-488C-6989-1FC7-007D14EE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r>
              <a:rPr lang="en-US" dirty="0"/>
              <a:t>/15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5E6C36C-77E1-AFFC-6296-F578DA217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14218"/>
              </p:ext>
            </p:extLst>
          </p:nvPr>
        </p:nvGraphicFramePr>
        <p:xfrm>
          <a:off x="5252300" y="1597517"/>
          <a:ext cx="3434500" cy="1549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250">
                  <a:extLst>
                    <a:ext uri="{9D8B030D-6E8A-4147-A177-3AD203B41FA5}">
                      <a16:colId xmlns:a16="http://schemas.microsoft.com/office/drawing/2014/main" val="974034745"/>
                    </a:ext>
                  </a:extLst>
                </a:gridCol>
                <a:gridCol w="1717250">
                  <a:extLst>
                    <a:ext uri="{9D8B030D-6E8A-4147-A177-3AD203B41FA5}">
                      <a16:colId xmlns:a16="http://schemas.microsoft.com/office/drawing/2014/main" val="3573356381"/>
                    </a:ext>
                  </a:extLst>
                </a:gridCol>
              </a:tblGrid>
              <a:tr h="426744">
                <a:tc>
                  <a:txBody>
                    <a:bodyPr/>
                    <a:lstStyle/>
                    <a:p>
                      <a:r>
                        <a:rPr lang="it-IT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Sampling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759027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r>
                        <a:rPr lang="it-IT" dirty="0"/>
                        <a:t>DDPM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83224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r>
                        <a:rPr lang="it-IT" dirty="0"/>
                        <a:t>DDIM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14844"/>
                  </a:ext>
                </a:extLst>
              </a:tr>
              <a:tr h="374237">
                <a:tc>
                  <a:txBody>
                    <a:bodyPr/>
                    <a:lstStyle/>
                    <a:p>
                      <a:r>
                        <a:rPr lang="it-IT" dirty="0"/>
                        <a:t>DDIM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7389"/>
                  </a:ext>
                </a:extLst>
              </a:tr>
            </a:tbl>
          </a:graphicData>
        </a:graphic>
      </p:graphicFrame>
      <p:sp>
        <p:nvSpPr>
          <p:cNvPr id="7" name="Shape 1">
            <a:extLst>
              <a:ext uri="{FF2B5EF4-FFF2-40B4-BE49-F238E27FC236}">
                <a16:creationId xmlns:a16="http://schemas.microsoft.com/office/drawing/2014/main" id="{AFBFE158-724C-5DF7-DD4D-46CBC9FC32AA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6442BE97-41A4-9F64-2561-CAAE4530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93" y="4203044"/>
            <a:ext cx="8102009" cy="2457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09083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Metrics:</a:t>
            </a:r>
          </a:p>
          <a:p>
            <a:pPr lvl="1"/>
            <a:r>
              <a:rPr dirty="0"/>
              <a:t>FID (lower is better)</a:t>
            </a:r>
          </a:p>
          <a:p>
            <a:pPr lvl="1"/>
            <a:r>
              <a:rPr dirty="0"/>
              <a:t>Inception Score (higher is better)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F1442B2-0BA9-8FCD-0D0D-B6D028F5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r>
              <a:rPr lang="en-US" dirty="0"/>
              <a:t>/15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33C8470B-7984-9968-A306-097975187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99320"/>
              </p:ext>
            </p:extLst>
          </p:nvPr>
        </p:nvGraphicFramePr>
        <p:xfrm>
          <a:off x="457198" y="2542999"/>
          <a:ext cx="8165805" cy="15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351">
                  <a:extLst>
                    <a:ext uri="{9D8B030D-6E8A-4147-A177-3AD203B41FA5}">
                      <a16:colId xmlns:a16="http://schemas.microsoft.com/office/drawing/2014/main" val="1345635011"/>
                    </a:ext>
                  </a:extLst>
                </a:gridCol>
                <a:gridCol w="898067">
                  <a:extLst>
                    <a:ext uri="{9D8B030D-6E8A-4147-A177-3AD203B41FA5}">
                      <a16:colId xmlns:a16="http://schemas.microsoft.com/office/drawing/2014/main" val="700762676"/>
                    </a:ext>
                  </a:extLst>
                </a:gridCol>
                <a:gridCol w="1204499">
                  <a:extLst>
                    <a:ext uri="{9D8B030D-6E8A-4147-A177-3AD203B41FA5}">
                      <a16:colId xmlns:a16="http://schemas.microsoft.com/office/drawing/2014/main" val="3253670045"/>
                    </a:ext>
                  </a:extLst>
                </a:gridCol>
                <a:gridCol w="1340423">
                  <a:extLst>
                    <a:ext uri="{9D8B030D-6E8A-4147-A177-3AD203B41FA5}">
                      <a16:colId xmlns:a16="http://schemas.microsoft.com/office/drawing/2014/main" val="3939242115"/>
                    </a:ext>
                  </a:extLst>
                </a:gridCol>
                <a:gridCol w="1247982">
                  <a:extLst>
                    <a:ext uri="{9D8B030D-6E8A-4147-A177-3AD203B41FA5}">
                      <a16:colId xmlns:a16="http://schemas.microsoft.com/office/drawing/2014/main" val="588970487"/>
                    </a:ext>
                  </a:extLst>
                </a:gridCol>
                <a:gridCol w="1032280">
                  <a:extLst>
                    <a:ext uri="{9D8B030D-6E8A-4147-A177-3AD203B41FA5}">
                      <a16:colId xmlns:a16="http://schemas.microsoft.com/office/drawing/2014/main" val="3985956653"/>
                    </a:ext>
                  </a:extLst>
                </a:gridCol>
                <a:gridCol w="1294203">
                  <a:extLst>
                    <a:ext uri="{9D8B030D-6E8A-4147-A177-3AD203B41FA5}">
                      <a16:colId xmlns:a16="http://schemas.microsoft.com/office/drawing/2014/main" val="524159348"/>
                    </a:ext>
                  </a:extLst>
                </a:gridCol>
              </a:tblGrid>
              <a:tr h="399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Time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Speed-Up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FID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IS_std</a:t>
                      </a:r>
                      <a:endParaRPr lang="it-IT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08517"/>
                  </a:ext>
                </a:extLst>
              </a:tr>
              <a:tr h="399086">
                <a:tc>
                  <a:txBody>
                    <a:bodyPr/>
                    <a:lstStyle/>
                    <a:p>
                      <a:r>
                        <a:rPr lang="it-IT" sz="1600" dirty="0"/>
                        <a:t>DDPM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1577.1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453.8732 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1.1681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54962"/>
                  </a:ext>
                </a:extLst>
              </a:tr>
              <a:tr h="399086">
                <a:tc>
                  <a:txBody>
                    <a:bodyPr/>
                    <a:lstStyle/>
                    <a:p>
                      <a:r>
                        <a:rPr lang="it-IT" sz="1600" dirty="0"/>
                        <a:t>DDIM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142.8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374.3619 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1.1861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0.0177</a:t>
                      </a:r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604297"/>
                  </a:ext>
                </a:extLst>
              </a:tr>
              <a:tr h="399086">
                <a:tc>
                  <a:txBody>
                    <a:bodyPr/>
                    <a:lstStyle/>
                    <a:p>
                      <a:r>
                        <a:rPr lang="it-IT" sz="1600" dirty="0"/>
                        <a:t>DDIM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600" dirty="0"/>
                        <a:t>109.1×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431.9409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1.2086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0.0201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866812"/>
                  </a:ext>
                </a:extLst>
              </a:tr>
            </a:tbl>
          </a:graphicData>
        </a:graphic>
      </p:graphicFrame>
      <p:sp>
        <p:nvSpPr>
          <p:cNvPr id="7" name="Shape 1">
            <a:extLst>
              <a:ext uri="{FF2B5EF4-FFF2-40B4-BE49-F238E27FC236}">
                <a16:creationId xmlns:a16="http://schemas.microsoft.com/office/drawing/2014/main" id="{1AF7E006-0B8E-F4EA-C276-33332B95C626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FEC2F1-C908-7D7E-9D3F-B7E584FD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and </a:t>
            </a:r>
            <a:r>
              <a:rPr lang="it-IT" dirty="0" err="1"/>
              <a:t>Ablation</a:t>
            </a:r>
            <a:r>
              <a:rPr lang="it-IT" dirty="0"/>
              <a:t>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E888C4-BF88-422E-6CE1-176BA597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>
            <a:normAutofit fontScale="92500"/>
          </a:bodyPr>
          <a:lstStyle/>
          <a:p>
            <a:r>
              <a:rPr lang="it-IT" dirty="0"/>
              <a:t>DDIM with 100 steps </a:t>
            </a:r>
            <a:r>
              <a:rPr lang="it-IT" dirty="0" err="1"/>
              <a:t>preserves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image </a:t>
            </a:r>
            <a:r>
              <a:rPr lang="it-IT" dirty="0" err="1"/>
              <a:t>quality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achieving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acceleration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93B3D3-64CD-DE6D-CCE5-9AC2DD53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r>
              <a:rPr lang="en-US" dirty="0"/>
              <a:t>/15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12FA165-3E4C-F6E3-0130-D3309480A52D}"/>
              </a:ext>
            </a:extLst>
          </p:cNvPr>
          <p:cNvSpPr/>
          <p:nvPr/>
        </p:nvSpPr>
        <p:spPr>
          <a:xfrm>
            <a:off x="411480" y="275641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 (T = 1000 steps, 1577.1 s)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F786B5-1D83-D87B-8A22-DE5A29F86B90}"/>
              </a:ext>
            </a:extLst>
          </p:cNvPr>
          <p:cNvSpPr/>
          <p:nvPr/>
        </p:nvSpPr>
        <p:spPr>
          <a:xfrm>
            <a:off x="411480" y="4413819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 (100 steps, 142.8 s  →  11.0× faster)</a:t>
            </a:r>
            <a:endParaRPr lang="en-US" sz="12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C0B7FA9-E6A0-0E02-1D94-5DCFA22DBF1F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A220054-8F98-A172-EF7B-27D2CAD1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2431"/>
            <a:ext cx="9144000" cy="1108188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5EB19F05-4C2E-9CE3-2EE3-5A3755140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0664"/>
            <a:ext cx="9144000" cy="11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7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380DE15-FA49-FC87-EC39-F8E1C606B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927"/>
            <a:ext cx="9144000" cy="410672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10ECE54-8A04-20ED-B29C-25ACB287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and </a:t>
            </a:r>
            <a:r>
              <a:rPr lang="it-IT" dirty="0" err="1"/>
              <a:t>Ablation</a:t>
            </a:r>
            <a:r>
              <a:rPr lang="it-IT" dirty="0"/>
              <a:t>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D92786-B055-D6C1-1696-AEA38406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87203"/>
            <a:ext cx="8229600" cy="163427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DDIM-100 (row 2) shows slightly smoother pixel distributions than DDPM and DDIM-10.</a:t>
            </a:r>
          </a:p>
          <a:p>
            <a:r>
              <a:rPr lang="en-US" dirty="0"/>
              <a:t>Speed-up: DDPM 1× → DDIM-100 11.0× → DDIM-10 109.1× (wall-clock on CPU, 1000 images).</a:t>
            </a:r>
          </a:p>
          <a:p>
            <a:r>
              <a:rPr lang="en-US" dirty="0"/>
              <a:t>All outputs noisy due to early training; gains expected to compound with more epochs.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674136-ABF4-BDD8-A4B6-CC3BEBDDD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759598A-2C52-73A7-8765-CE2DC2460829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10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Conclusions</a:t>
            </a:r>
            <a:r>
              <a:rPr lang="it-IT" dirty="0"/>
              <a:t> &amp; Future 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 err="1"/>
              <a:t>Conclusions</a:t>
            </a:r>
            <a:endParaRPr lang="it-IT" b="1" dirty="0"/>
          </a:p>
          <a:p>
            <a:pPr lvl="1"/>
            <a:r>
              <a:rPr dirty="0"/>
              <a:t>DDIM provides substantial acceleration with limited quality degradation.</a:t>
            </a:r>
            <a:endParaRPr lang="it-IT" dirty="0"/>
          </a:p>
          <a:p>
            <a:pPr lvl="1"/>
            <a:r>
              <a:rPr lang="it-IT" dirty="0"/>
              <a:t>EMA, AMP, and </a:t>
            </a:r>
            <a:r>
              <a:rPr lang="it-IT" dirty="0" err="1"/>
              <a:t>gradient</a:t>
            </a:r>
            <a:r>
              <a:rPr lang="it-IT" dirty="0"/>
              <a:t> clipping </a:t>
            </a:r>
            <a:r>
              <a:rPr lang="it-IT" dirty="0" err="1"/>
              <a:t>improve</a:t>
            </a:r>
            <a:r>
              <a:rPr lang="it-IT" dirty="0"/>
              <a:t> training </a:t>
            </a:r>
            <a:r>
              <a:rPr lang="it-IT" dirty="0" err="1"/>
              <a:t>stability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b="1" dirty="0"/>
              <a:t>Future Work</a:t>
            </a:r>
          </a:p>
          <a:p>
            <a:pPr lvl="1"/>
            <a:r>
              <a:rPr lang="it-IT" dirty="0" err="1"/>
              <a:t>Latent</a:t>
            </a:r>
            <a:r>
              <a:rPr lang="it-IT" dirty="0"/>
              <a:t> </a:t>
            </a:r>
            <a:r>
              <a:rPr lang="it-IT" dirty="0" err="1"/>
              <a:t>Diffusion</a:t>
            </a:r>
            <a:r>
              <a:rPr lang="it-IT" dirty="0"/>
              <a:t> Models</a:t>
            </a:r>
          </a:p>
          <a:p>
            <a:pPr lvl="1"/>
            <a:r>
              <a:rPr lang="it-IT" dirty="0"/>
              <a:t>Progressive </a:t>
            </a:r>
            <a:r>
              <a:rPr lang="it-IT" dirty="0" err="1"/>
              <a:t>Distillation</a:t>
            </a:r>
            <a:endParaRPr lang="it-IT" dirty="0"/>
          </a:p>
          <a:p>
            <a:pPr lvl="1"/>
            <a:r>
              <a:rPr lang="it-IT" dirty="0" err="1"/>
              <a:t>Classifier</a:t>
            </a:r>
            <a:r>
              <a:rPr lang="it-IT" dirty="0"/>
              <a:t>-Free </a:t>
            </a:r>
            <a:r>
              <a:rPr lang="it-IT" dirty="0" err="1"/>
              <a:t>Guidance</a:t>
            </a:r>
            <a:endParaRPr lang="it-IT" dirty="0"/>
          </a:p>
          <a:p>
            <a:pPr lvl="1"/>
            <a:r>
              <a:rPr lang="it-IT" dirty="0" err="1"/>
              <a:t>Higher-resolution</a:t>
            </a:r>
            <a:r>
              <a:rPr lang="it-IT" dirty="0"/>
              <a:t> datasets</a:t>
            </a:r>
          </a:p>
          <a:p>
            <a:endParaRPr dirty="0"/>
          </a:p>
          <a:p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BCB4F1-E9F8-9FE4-6104-C8D89321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381D8B1-754A-E92B-93F7-35E54C4CDE73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267E1-05DC-FEE4-E00A-8B2F729C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EC3AC3-D96F-74C1-C578-6A4EF38F3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70000" lnSpcReduction="20000"/>
          </a:bodyPr>
          <a:lstStyle/>
          <a:p>
            <a:r>
              <a:rPr lang="da-DK" dirty="0"/>
              <a:t>Ho, J., Jain, A., &amp; Abbeel, P. (2020). Denoising Diffusion Probabilistic Models. NeurIPS 2020.</a:t>
            </a:r>
          </a:p>
          <a:p>
            <a:endParaRPr lang="da-DK" dirty="0"/>
          </a:p>
          <a:p>
            <a:r>
              <a:rPr lang="fr-FR" dirty="0"/>
              <a:t>Song, J., Meng, C., &amp; Ermon, S. (2021). </a:t>
            </a:r>
            <a:r>
              <a:rPr lang="fr-FR" dirty="0" err="1"/>
              <a:t>Denoising</a:t>
            </a:r>
            <a:r>
              <a:rPr lang="fr-FR" dirty="0"/>
              <a:t> Diffusion </a:t>
            </a:r>
            <a:r>
              <a:rPr lang="fr-FR" dirty="0" err="1"/>
              <a:t>Implicit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. ICLR 2021.</a:t>
            </a:r>
          </a:p>
          <a:p>
            <a:endParaRPr lang="fr-FR" dirty="0"/>
          </a:p>
          <a:p>
            <a:r>
              <a:rPr lang="fr-FR" dirty="0"/>
              <a:t>Rombach, R., et al. (2022). High-</a:t>
            </a:r>
            <a:r>
              <a:rPr lang="fr-FR" dirty="0" err="1"/>
              <a:t>Resolution</a:t>
            </a:r>
            <a:r>
              <a:rPr lang="fr-FR" dirty="0"/>
              <a:t> Image </a:t>
            </a:r>
            <a:r>
              <a:rPr lang="fr-FR" dirty="0" err="1"/>
              <a:t>Synthesis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Latent Diffusion </a:t>
            </a:r>
            <a:r>
              <a:rPr lang="fr-FR" dirty="0" err="1"/>
              <a:t>Models</a:t>
            </a:r>
            <a:r>
              <a:rPr lang="fr-FR" dirty="0"/>
              <a:t>. CVPR 2022.</a:t>
            </a:r>
          </a:p>
          <a:p>
            <a:endParaRPr lang="fr-FR" dirty="0"/>
          </a:p>
          <a:p>
            <a:r>
              <a:rPr lang="en-US" dirty="0"/>
              <a:t>Salimans, T., &amp; Ho, J. (2022). Progressive Distillation for Fast Sampling of Diffusion Models. ICLR 2022.</a:t>
            </a:r>
          </a:p>
          <a:p>
            <a:endParaRPr lang="en-US" dirty="0"/>
          </a:p>
          <a:p>
            <a:r>
              <a:rPr lang="fr-FR" dirty="0"/>
              <a:t>Nichol, A., &amp; Dhariwal, P. (2021). </a:t>
            </a:r>
            <a:r>
              <a:rPr lang="fr-FR" dirty="0" err="1"/>
              <a:t>Improved</a:t>
            </a:r>
            <a:r>
              <a:rPr lang="fr-FR" dirty="0"/>
              <a:t> </a:t>
            </a:r>
            <a:r>
              <a:rPr lang="fr-FR" dirty="0" err="1"/>
              <a:t>Denoising</a:t>
            </a:r>
            <a:r>
              <a:rPr lang="fr-FR" dirty="0"/>
              <a:t> Diffusion </a:t>
            </a:r>
            <a:r>
              <a:rPr lang="fr-FR" dirty="0" err="1"/>
              <a:t>Probabilistic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. ICML 2021.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90899F-7CF6-4F2A-9BBA-309A295C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r>
              <a:rPr lang="en-US" dirty="0"/>
              <a:t>/15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7B8590D-EF57-C721-B03B-3D2C3F437A37}"/>
              </a:ext>
            </a:extLst>
          </p:cNvPr>
          <p:cNvSpPr/>
          <p:nvPr/>
        </p:nvSpPr>
        <p:spPr>
          <a:xfrm>
            <a:off x="457200" y="1146876"/>
            <a:ext cx="8229600" cy="3200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523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701</Words>
  <Application>Microsoft Office PowerPoint</Application>
  <PresentationFormat>Presentazione su schermo (4:3)</PresentationFormat>
  <Paragraphs>206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Courier New</vt:lpstr>
      <vt:lpstr>Office Theme</vt:lpstr>
      <vt:lpstr>Lightweight Diffusion Models:</vt:lpstr>
      <vt:lpstr>Outline</vt:lpstr>
      <vt:lpstr>Problem Statement</vt:lpstr>
      <vt:lpstr>State of the Art</vt:lpstr>
      <vt:lpstr>Proposed Method</vt:lpstr>
      <vt:lpstr>Dataset</vt:lpstr>
      <vt:lpstr>Model Architecture</vt:lpstr>
      <vt:lpstr>Experimental Setup</vt:lpstr>
      <vt:lpstr>Training Results</vt:lpstr>
      <vt:lpstr>DDIM Acceleration</vt:lpstr>
      <vt:lpstr>Model Evaluation</vt:lpstr>
      <vt:lpstr>Results and Ablation Study</vt:lpstr>
      <vt:lpstr>Results and Ablation Study</vt:lpstr>
      <vt:lpstr>Conclusions &amp; Future Works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Yuriy Fedoryuk</cp:lastModifiedBy>
  <cp:revision>5</cp:revision>
  <dcterms:created xsi:type="dcterms:W3CDTF">2013-01-27T09:14:16Z</dcterms:created>
  <dcterms:modified xsi:type="dcterms:W3CDTF">2026-06-12T21:56:49Z</dcterms:modified>
  <cp:category/>
</cp:coreProperties>
</file>